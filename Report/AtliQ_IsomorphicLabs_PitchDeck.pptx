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724" y="10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N D" userId="f208deb33cd3bf2a" providerId="LiveId" clId="{3ABDDA89-2162-4E14-B157-8CF13E01B2D3}"/>
    <pc:docChg chg="undo custSel modSld">
      <pc:chgData name="SACHIN D" userId="f208deb33cd3bf2a" providerId="LiveId" clId="{3ABDDA89-2162-4E14-B157-8CF13E01B2D3}" dt="2026-09-01T09:21:37.862" v="1" actId="14100"/>
      <pc:docMkLst>
        <pc:docMk/>
      </pc:docMkLst>
      <pc:sldChg chg="modSp mod">
        <pc:chgData name="SACHIN D" userId="f208deb33cd3bf2a" providerId="LiveId" clId="{3ABDDA89-2162-4E14-B157-8CF13E01B2D3}" dt="2026-09-01T09:21:37.862" v="1" actId="14100"/>
        <pc:sldMkLst>
          <pc:docMk/>
          <pc:sldMk cId="0" sldId="256"/>
        </pc:sldMkLst>
        <pc:picChg chg="mod">
          <ac:chgData name="SACHIN D" userId="f208deb33cd3bf2a" providerId="LiveId" clId="{3ABDDA89-2162-4E14-B157-8CF13E01B2D3}" dt="2026-09-01T09:21:37.862" v="1" actId="14100"/>
          <ac:picMkLst>
            <pc:docMk/>
            <pc:sldMk cId="0" sldId="256"/>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0258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pic>
        <p:nvPicPr>
          <p:cNvPr id="2" name="Image 0" descr="assets/icon_white.png"/>
          <p:cNvPicPr>
            <a:picLocks noChangeAspect="1"/>
          </p:cNvPicPr>
          <p:nvPr/>
        </p:nvPicPr>
        <p:blipFill>
          <a:blip r:embed="rId3">
            <a:alphaModFix amt="12000"/>
          </a:blip>
          <a:stretch>
            <a:fillRect/>
          </a:stretch>
        </p:blipFill>
        <p:spPr>
          <a:xfrm>
            <a:off x="7863840" y="2103120"/>
            <a:ext cx="5669280" cy="5669280"/>
          </a:xfrm>
          <a:prstGeom prst="rect">
            <a:avLst/>
          </a:prstGeom>
        </p:spPr>
      </p:pic>
      <p:pic>
        <p:nvPicPr>
          <p:cNvPr id="3" name="Image 1" descr="assets/wordmark_white.png"/>
          <p:cNvPicPr>
            <a:picLocks noChangeAspect="1"/>
          </p:cNvPicPr>
          <p:nvPr/>
        </p:nvPicPr>
        <p:blipFill>
          <a:blip r:embed="rId4"/>
          <a:stretch>
            <a:fillRect/>
          </a:stretch>
        </p:blipFill>
        <p:spPr>
          <a:xfrm>
            <a:off x="548640" y="502920"/>
            <a:ext cx="2377440" cy="978408"/>
          </a:xfrm>
          <a:prstGeom prst="rect">
            <a:avLst/>
          </a:prstGeom>
        </p:spPr>
      </p:pic>
      <p:sp>
        <p:nvSpPr>
          <p:cNvPr id="4" name="Text 0"/>
          <p:cNvSpPr/>
          <p:nvPr/>
        </p:nvSpPr>
        <p:spPr>
          <a:xfrm>
            <a:off x="548640" y="2468880"/>
            <a:ext cx="9144000" cy="365760"/>
          </a:xfrm>
          <a:prstGeom prst="rect">
            <a:avLst/>
          </a:prstGeom>
          <a:noFill/>
          <a:ln/>
        </p:spPr>
        <p:txBody>
          <a:bodyPr wrap="square" lIns="0" tIns="0" rIns="0" bIns="0" rtlCol="0" anchor="ctr"/>
          <a:lstStyle/>
          <a:p>
            <a:pPr marL="0" indent="0">
              <a:buNone/>
            </a:pPr>
            <a:r>
              <a:rPr lang="en-US" sz="1400" b="1" kern="0" spc="200" dirty="0">
                <a:solidFill>
                  <a:srgbClr val="A78BFA"/>
                </a:solidFill>
                <a:latin typeface="Calibri" pitchFamily="34" charset="0"/>
                <a:ea typeface="Calibri" pitchFamily="34" charset="-122"/>
                <a:cs typeface="Calibri" pitchFamily="34" charset="-120"/>
              </a:rPr>
              <a:t>PROPOSAL FOR ISOMORPHIC LABS</a:t>
            </a:r>
            <a:endParaRPr lang="en-US" sz="1400" dirty="0"/>
          </a:p>
        </p:txBody>
      </p:sp>
      <p:sp>
        <p:nvSpPr>
          <p:cNvPr id="5" name="Text 1"/>
          <p:cNvSpPr/>
          <p:nvPr/>
        </p:nvSpPr>
        <p:spPr>
          <a:xfrm>
            <a:off x="548640" y="2880360"/>
            <a:ext cx="9875520" cy="1920240"/>
          </a:xfrm>
          <a:prstGeom prst="rect">
            <a:avLst/>
          </a:prstGeom>
          <a:noFill/>
          <a:ln/>
        </p:spPr>
        <p:txBody>
          <a:bodyPr wrap="square" lIns="0" tIns="0" rIns="0" bIns="0" rtlCol="0" anchor="ctr"/>
          <a:lstStyle/>
          <a:p>
            <a:pPr marL="0" indent="0" algn="l">
              <a:lnSpc>
                <a:spcPct val="105000"/>
              </a:lnSpc>
              <a:buNone/>
            </a:pPr>
            <a:r>
              <a:rPr lang="en-US" sz="3800" b="1" dirty="0">
                <a:solidFill>
                  <a:srgbClr val="FFFFFF"/>
                </a:solidFill>
                <a:latin typeface="Calibri" pitchFamily="34" charset="0"/>
                <a:ea typeface="Calibri" pitchFamily="34" charset="-122"/>
                <a:cs typeface="Calibri" pitchFamily="34" charset="-120"/>
              </a:rPr>
              <a:t>Turn Your $2.1B Series B Into </a:t>
            </a:r>
            <a:r>
              <a:rPr lang="en-US" sz="3800" b="1" dirty="0">
                <a:solidFill>
                  <a:srgbClr val="A78BFA"/>
                </a:solidFill>
                <a:latin typeface="Calibri" pitchFamily="34" charset="0"/>
                <a:ea typeface="Calibri" pitchFamily="34" charset="-122"/>
                <a:cs typeface="Calibri" pitchFamily="34" charset="-120"/>
              </a:rPr>
              <a:t>Data Infrastructure That Scales</a:t>
            </a:r>
            <a:endParaRPr lang="en-US" sz="3800" dirty="0"/>
          </a:p>
        </p:txBody>
      </p:sp>
      <p:sp>
        <p:nvSpPr>
          <p:cNvPr id="6" name="Text 2"/>
          <p:cNvSpPr/>
          <p:nvPr/>
        </p:nvSpPr>
        <p:spPr>
          <a:xfrm>
            <a:off x="548640" y="4709160"/>
            <a:ext cx="8046720" cy="731520"/>
          </a:xfrm>
          <a:prstGeom prst="rect">
            <a:avLst/>
          </a:prstGeom>
          <a:noFill/>
          <a:ln/>
        </p:spPr>
        <p:txBody>
          <a:bodyPr wrap="square" lIns="0" tIns="0" rIns="0" bIns="0" rtlCol="0" anchor="ctr"/>
          <a:lstStyle/>
          <a:p>
            <a:pPr marL="0" indent="0">
              <a:lnSpc>
                <a:spcPct val="120000"/>
              </a:lnSpc>
              <a:buNone/>
            </a:pPr>
            <a:r>
              <a:rPr lang="en-US" sz="1500" dirty="0">
                <a:solidFill>
                  <a:srgbClr val="C9C4E0"/>
                </a:solidFill>
                <a:latin typeface="Calibri" pitchFamily="34" charset="0"/>
                <a:ea typeface="Calibri" pitchFamily="34" charset="-122"/>
                <a:cs typeface="Calibri" pitchFamily="34" charset="-120"/>
              </a:rPr>
              <a:t>A cloud data &amp; analytics partner for Isomorphic Labs, as IsoDDE scales across every therapeutic program.</a:t>
            </a:r>
            <a:endParaRPr lang="en-US" sz="1500" dirty="0"/>
          </a:p>
        </p:txBody>
      </p:sp>
      <p:sp>
        <p:nvSpPr>
          <p:cNvPr id="7" name="Text 3"/>
          <p:cNvSpPr/>
          <p:nvPr/>
        </p:nvSpPr>
        <p:spPr>
          <a:xfrm>
            <a:off x="548640" y="6309360"/>
            <a:ext cx="7315200" cy="320040"/>
          </a:xfrm>
          <a:prstGeom prst="rect">
            <a:avLst/>
          </a:prstGeom>
          <a:noFill/>
          <a:ln/>
        </p:spPr>
        <p:txBody>
          <a:bodyPr wrap="square" lIns="0" tIns="0" rIns="0" bIns="0" rtlCol="0" anchor="ctr"/>
          <a:lstStyle/>
          <a:p>
            <a:pPr marL="0" indent="0">
              <a:buNone/>
            </a:pPr>
            <a:r>
              <a:rPr lang="en-US" sz="1100" dirty="0">
                <a:solidFill>
                  <a:srgbClr val="9E97C4"/>
                </a:solidFill>
                <a:latin typeface="Calibri" pitchFamily="34" charset="0"/>
                <a:ea typeface="Calibri" pitchFamily="34" charset="-122"/>
                <a:cs typeface="Calibri" pitchFamily="34" charset="-120"/>
              </a:rPr>
              <a:t>Prepared by AtliQ Technologies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assets/icon_mark.png"/>
          <p:cNvPicPr>
            <a:picLocks noChangeAspect="1"/>
          </p:cNvPicPr>
          <p:nvPr/>
        </p:nvPicPr>
        <p:blipFill>
          <a:blip r:embed="rId3">
            <a:alphaModFix amt="8000"/>
          </a:blip>
          <a:stretch>
            <a:fillRect/>
          </a:stretch>
        </p:blipFill>
        <p:spPr>
          <a:xfrm>
            <a:off x="10607040" y="-457200"/>
            <a:ext cx="2194560" cy="2194560"/>
          </a:xfrm>
          <a:prstGeom prst="rect">
            <a:avLst/>
          </a:prstGeom>
        </p:spPr>
      </p:pic>
      <p:sp>
        <p:nvSpPr>
          <p:cNvPr id="3" name="Text 0"/>
          <p:cNvSpPr/>
          <p:nvPr/>
        </p:nvSpPr>
        <p:spPr>
          <a:xfrm>
            <a:off x="548640" y="457200"/>
            <a:ext cx="10515600" cy="320040"/>
          </a:xfrm>
          <a:prstGeom prst="rect">
            <a:avLst/>
          </a:prstGeom>
          <a:noFill/>
          <a:ln/>
        </p:spPr>
        <p:txBody>
          <a:bodyPr wrap="square" lIns="0" tIns="0" rIns="0" bIns="0" rtlCol="0" anchor="ctr"/>
          <a:lstStyle/>
          <a:p>
            <a:pPr marL="0" indent="0">
              <a:buNone/>
            </a:pPr>
            <a:r>
              <a:rPr lang="en-US" sz="1200" b="1" kern="0" spc="150" dirty="0">
                <a:solidFill>
                  <a:srgbClr val="6425E9"/>
                </a:solidFill>
                <a:latin typeface="Calibri" pitchFamily="34" charset="0"/>
                <a:ea typeface="Calibri" pitchFamily="34" charset="-122"/>
                <a:cs typeface="Calibri" pitchFamily="34" charset="-120"/>
              </a:rPr>
              <a:t>THE MOMENT</a:t>
            </a:r>
            <a:endParaRPr lang="en-US" sz="1200" dirty="0"/>
          </a:p>
        </p:txBody>
      </p:sp>
      <p:sp>
        <p:nvSpPr>
          <p:cNvPr id="4" name="Text 1"/>
          <p:cNvSpPr/>
          <p:nvPr/>
        </p:nvSpPr>
        <p:spPr>
          <a:xfrm>
            <a:off x="548640" y="804672"/>
            <a:ext cx="10698480" cy="64008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Put the $2.1B to Work Before the Data Catches Up</a:t>
            </a:r>
            <a:endParaRPr lang="en-US" sz="2800" dirty="0"/>
          </a:p>
        </p:txBody>
      </p:sp>
      <p:sp>
        <p:nvSpPr>
          <p:cNvPr id="5" name="Text 2"/>
          <p:cNvSpPr/>
          <p:nvPr/>
        </p:nvSpPr>
        <p:spPr>
          <a:xfrm>
            <a:off x="548640" y="1444752"/>
            <a:ext cx="10332720" cy="45720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Thrive Capital, Alphabet, GV, MGX, Temasek, CapitalG, and the UK Sovereign AI Fund just backed the next phase of IsoDDE.</a:t>
            </a:r>
            <a:endParaRPr lang="en-US" sz="1350" dirty="0"/>
          </a:p>
        </p:txBody>
      </p:sp>
      <p:sp>
        <p:nvSpPr>
          <p:cNvPr id="6" name="Shape 3"/>
          <p:cNvSpPr/>
          <p:nvPr/>
        </p:nvSpPr>
        <p:spPr>
          <a:xfrm>
            <a:off x="548640" y="2148840"/>
            <a:ext cx="3246120" cy="1691640"/>
          </a:xfrm>
          <a:prstGeom prst="roundRect">
            <a:avLst>
              <a:gd name="adj" fmla="val 4324"/>
            </a:avLst>
          </a:prstGeom>
          <a:solidFill>
            <a:srgbClr val="F7F5FC"/>
          </a:solidFill>
          <a:ln w="12700">
            <a:solidFill>
              <a:srgbClr val="E5E1F5"/>
            </a:solidFill>
            <a:prstDash val="solid"/>
          </a:ln>
        </p:spPr>
      </p:sp>
      <p:sp>
        <p:nvSpPr>
          <p:cNvPr id="7" name="Text 4"/>
          <p:cNvSpPr/>
          <p:nvPr/>
        </p:nvSpPr>
        <p:spPr>
          <a:xfrm>
            <a:off x="777240" y="2350008"/>
            <a:ext cx="2788920" cy="731520"/>
          </a:xfrm>
          <a:prstGeom prst="rect">
            <a:avLst/>
          </a:prstGeom>
          <a:noFill/>
          <a:ln/>
        </p:spPr>
        <p:txBody>
          <a:bodyPr wrap="square" lIns="0" tIns="0" rIns="0" bIns="0" rtlCol="0" anchor="ctr"/>
          <a:lstStyle/>
          <a:p>
            <a:pPr marL="0" indent="0">
              <a:buNone/>
            </a:pPr>
            <a:r>
              <a:rPr lang="en-US" sz="3400" b="1" dirty="0">
                <a:solidFill>
                  <a:srgbClr val="6425E9"/>
                </a:solidFill>
                <a:latin typeface="Calibri" pitchFamily="34" charset="0"/>
                <a:ea typeface="Calibri" pitchFamily="34" charset="-122"/>
                <a:cs typeface="Calibri" pitchFamily="34" charset="-120"/>
              </a:rPr>
              <a:t>$2.1B</a:t>
            </a:r>
            <a:endParaRPr lang="en-US" sz="3400" dirty="0"/>
          </a:p>
        </p:txBody>
      </p:sp>
      <p:sp>
        <p:nvSpPr>
          <p:cNvPr id="8" name="Text 5"/>
          <p:cNvSpPr/>
          <p:nvPr/>
        </p:nvSpPr>
        <p:spPr>
          <a:xfrm>
            <a:off x="777240" y="3108960"/>
            <a:ext cx="2788920" cy="640080"/>
          </a:xfrm>
          <a:prstGeom prst="rect">
            <a:avLst/>
          </a:prstGeom>
          <a:noFill/>
          <a:ln/>
        </p:spPr>
        <p:txBody>
          <a:bodyPr wrap="square" lIns="0" tIns="0" rIns="0" bIns="0" rtlCol="0" anchor="ctr"/>
          <a:lstStyle/>
          <a:p>
            <a:pPr marL="0" indent="0">
              <a:lnSpc>
                <a:spcPct val="115000"/>
              </a:lnSpc>
              <a:buNone/>
            </a:pPr>
            <a:r>
              <a:rPr lang="en-US" sz="1200" dirty="0">
                <a:solidFill>
                  <a:srgbClr val="6B7280"/>
                </a:solidFill>
                <a:latin typeface="Calibri" pitchFamily="34" charset="0"/>
                <a:ea typeface="Calibri" pitchFamily="34" charset="-122"/>
                <a:cs typeface="Calibri" pitchFamily="34" charset="-120"/>
              </a:rPr>
              <a:t>Series B, led by</a:t>
            </a:r>
            <a:endParaRPr lang="en-US" sz="1200" dirty="0"/>
          </a:p>
          <a:p>
            <a:pPr marL="0" indent="0">
              <a:lnSpc>
                <a:spcPct val="115000"/>
              </a:lnSpc>
              <a:buNone/>
            </a:pPr>
            <a:r>
              <a:rPr lang="en-US" sz="1200" dirty="0">
                <a:solidFill>
                  <a:srgbClr val="6B7280"/>
                </a:solidFill>
                <a:latin typeface="Calibri" pitchFamily="34" charset="0"/>
                <a:ea typeface="Calibri" pitchFamily="34" charset="-122"/>
                <a:cs typeface="Calibri" pitchFamily="34" charset="-120"/>
              </a:rPr>
              <a:t>Thrive Capital</a:t>
            </a:r>
            <a:endParaRPr lang="en-US" sz="1200" dirty="0"/>
          </a:p>
        </p:txBody>
      </p:sp>
      <p:sp>
        <p:nvSpPr>
          <p:cNvPr id="9" name="Shape 6"/>
          <p:cNvSpPr/>
          <p:nvPr/>
        </p:nvSpPr>
        <p:spPr>
          <a:xfrm>
            <a:off x="4114800" y="2148840"/>
            <a:ext cx="3246120" cy="1691640"/>
          </a:xfrm>
          <a:prstGeom prst="roundRect">
            <a:avLst>
              <a:gd name="adj" fmla="val 4324"/>
            </a:avLst>
          </a:prstGeom>
          <a:solidFill>
            <a:srgbClr val="F7F5FC"/>
          </a:solidFill>
          <a:ln w="12700">
            <a:solidFill>
              <a:srgbClr val="E5E1F5"/>
            </a:solidFill>
            <a:prstDash val="solid"/>
          </a:ln>
        </p:spPr>
      </p:sp>
      <p:sp>
        <p:nvSpPr>
          <p:cNvPr id="10" name="Text 7"/>
          <p:cNvSpPr/>
          <p:nvPr/>
        </p:nvSpPr>
        <p:spPr>
          <a:xfrm>
            <a:off x="4343400" y="2350008"/>
            <a:ext cx="2788920" cy="731520"/>
          </a:xfrm>
          <a:prstGeom prst="rect">
            <a:avLst/>
          </a:prstGeom>
          <a:noFill/>
          <a:ln/>
        </p:spPr>
        <p:txBody>
          <a:bodyPr wrap="square" lIns="0" tIns="0" rIns="0" bIns="0" rtlCol="0" anchor="ctr"/>
          <a:lstStyle/>
          <a:p>
            <a:pPr marL="0" indent="0">
              <a:buNone/>
            </a:pPr>
            <a:r>
              <a:rPr lang="en-US" sz="3400" b="1" dirty="0">
                <a:solidFill>
                  <a:srgbClr val="6425E9"/>
                </a:solidFill>
                <a:latin typeface="Calibri" pitchFamily="34" charset="0"/>
                <a:ea typeface="Calibri" pitchFamily="34" charset="-122"/>
                <a:cs typeface="Calibri" pitchFamily="34" charset="-120"/>
              </a:rPr>
              <a:t>$2.7B</a:t>
            </a:r>
            <a:endParaRPr lang="en-US" sz="3400" dirty="0"/>
          </a:p>
        </p:txBody>
      </p:sp>
      <p:sp>
        <p:nvSpPr>
          <p:cNvPr id="11" name="Text 8"/>
          <p:cNvSpPr/>
          <p:nvPr/>
        </p:nvSpPr>
        <p:spPr>
          <a:xfrm>
            <a:off x="4343400" y="3108960"/>
            <a:ext cx="2788920" cy="640080"/>
          </a:xfrm>
          <a:prstGeom prst="rect">
            <a:avLst/>
          </a:prstGeom>
          <a:noFill/>
          <a:ln/>
        </p:spPr>
        <p:txBody>
          <a:bodyPr wrap="square" lIns="0" tIns="0" rIns="0" bIns="0" rtlCol="0" anchor="ctr"/>
          <a:lstStyle/>
          <a:p>
            <a:pPr marL="0" indent="0">
              <a:lnSpc>
                <a:spcPct val="115000"/>
              </a:lnSpc>
              <a:buNone/>
            </a:pPr>
            <a:r>
              <a:rPr lang="en-US" sz="1200" dirty="0">
                <a:solidFill>
                  <a:srgbClr val="6B7280"/>
                </a:solidFill>
                <a:latin typeface="Calibri" pitchFamily="34" charset="0"/>
                <a:ea typeface="Calibri" pitchFamily="34" charset="-122"/>
                <a:cs typeface="Calibri" pitchFamily="34" charset="-120"/>
              </a:rPr>
              <a:t>Total capital raised</a:t>
            </a:r>
            <a:endParaRPr lang="en-US" sz="1200" dirty="0"/>
          </a:p>
          <a:p>
            <a:pPr marL="0" indent="0">
              <a:lnSpc>
                <a:spcPct val="115000"/>
              </a:lnSpc>
              <a:buNone/>
            </a:pPr>
            <a:r>
              <a:rPr lang="en-US" sz="1200" dirty="0">
                <a:solidFill>
                  <a:srgbClr val="6B7280"/>
                </a:solidFill>
                <a:latin typeface="Calibri" pitchFamily="34" charset="0"/>
                <a:ea typeface="Calibri" pitchFamily="34" charset="-122"/>
                <a:cs typeface="Calibri" pitchFamily="34" charset="-120"/>
              </a:rPr>
              <a:t>to date</a:t>
            </a:r>
            <a:endParaRPr lang="en-US" sz="1200" dirty="0"/>
          </a:p>
        </p:txBody>
      </p:sp>
      <p:sp>
        <p:nvSpPr>
          <p:cNvPr id="12" name="Shape 9"/>
          <p:cNvSpPr/>
          <p:nvPr/>
        </p:nvSpPr>
        <p:spPr>
          <a:xfrm>
            <a:off x="7680960" y="2148840"/>
            <a:ext cx="3246120" cy="1691640"/>
          </a:xfrm>
          <a:prstGeom prst="roundRect">
            <a:avLst>
              <a:gd name="adj" fmla="val 4324"/>
            </a:avLst>
          </a:prstGeom>
          <a:solidFill>
            <a:srgbClr val="F7F5FC"/>
          </a:solidFill>
          <a:ln w="12700">
            <a:solidFill>
              <a:srgbClr val="E5E1F5"/>
            </a:solidFill>
            <a:prstDash val="solid"/>
          </a:ln>
        </p:spPr>
      </p:sp>
      <p:sp>
        <p:nvSpPr>
          <p:cNvPr id="13" name="Text 10"/>
          <p:cNvSpPr/>
          <p:nvPr/>
        </p:nvSpPr>
        <p:spPr>
          <a:xfrm>
            <a:off x="7909560" y="2350008"/>
            <a:ext cx="2788920" cy="731520"/>
          </a:xfrm>
          <a:prstGeom prst="rect">
            <a:avLst/>
          </a:prstGeom>
          <a:noFill/>
          <a:ln/>
        </p:spPr>
        <p:txBody>
          <a:bodyPr wrap="square" lIns="0" tIns="0" rIns="0" bIns="0" rtlCol="0" anchor="ctr"/>
          <a:lstStyle/>
          <a:p>
            <a:pPr marL="0" indent="0">
              <a:buNone/>
            </a:pPr>
            <a:r>
              <a:rPr lang="en-US" sz="3400" b="1" dirty="0">
                <a:solidFill>
                  <a:srgbClr val="6425E9"/>
                </a:solidFill>
                <a:latin typeface="Calibri" pitchFamily="34" charset="0"/>
                <a:ea typeface="Calibri" pitchFamily="34" charset="-122"/>
                <a:cs typeface="Calibri" pitchFamily="34" charset="-120"/>
              </a:rPr>
              <a:t>7</a:t>
            </a:r>
            <a:endParaRPr lang="en-US" sz="3400" dirty="0"/>
          </a:p>
        </p:txBody>
      </p:sp>
      <p:sp>
        <p:nvSpPr>
          <p:cNvPr id="14" name="Text 11"/>
          <p:cNvSpPr/>
          <p:nvPr/>
        </p:nvSpPr>
        <p:spPr>
          <a:xfrm>
            <a:off x="7909560" y="3108960"/>
            <a:ext cx="2788920" cy="640080"/>
          </a:xfrm>
          <a:prstGeom prst="rect">
            <a:avLst/>
          </a:prstGeom>
          <a:noFill/>
          <a:ln/>
        </p:spPr>
        <p:txBody>
          <a:bodyPr wrap="square" lIns="0" tIns="0" rIns="0" bIns="0" rtlCol="0" anchor="ctr"/>
          <a:lstStyle/>
          <a:p>
            <a:pPr marL="0" indent="0">
              <a:lnSpc>
                <a:spcPct val="115000"/>
              </a:lnSpc>
              <a:buNone/>
            </a:pPr>
            <a:r>
              <a:rPr lang="en-US" sz="1200" dirty="0">
                <a:solidFill>
                  <a:srgbClr val="6B7280"/>
                </a:solidFill>
                <a:latin typeface="Calibri" pitchFamily="34" charset="0"/>
                <a:ea typeface="Calibri" pitchFamily="34" charset="-122"/>
                <a:cs typeface="Calibri" pitchFamily="34" charset="-120"/>
              </a:rPr>
              <a:t>Institutional investors</a:t>
            </a:r>
            <a:endParaRPr lang="en-US" sz="1200" dirty="0"/>
          </a:p>
          <a:p>
            <a:pPr marL="0" indent="0">
              <a:lnSpc>
                <a:spcPct val="115000"/>
              </a:lnSpc>
              <a:buNone/>
            </a:pPr>
            <a:r>
              <a:rPr lang="en-US" sz="1200" dirty="0">
                <a:solidFill>
                  <a:srgbClr val="6B7280"/>
                </a:solidFill>
                <a:latin typeface="Calibri" pitchFamily="34" charset="0"/>
                <a:ea typeface="Calibri" pitchFamily="34" charset="-122"/>
                <a:cs typeface="Calibri" pitchFamily="34" charset="-120"/>
              </a:rPr>
              <a:t>in this round</a:t>
            </a:r>
            <a:endParaRPr lang="en-US" sz="1200" dirty="0"/>
          </a:p>
        </p:txBody>
      </p:sp>
      <p:sp>
        <p:nvSpPr>
          <p:cNvPr id="15" name="Shape 12"/>
          <p:cNvSpPr/>
          <p:nvPr/>
        </p:nvSpPr>
        <p:spPr>
          <a:xfrm>
            <a:off x="548640" y="4160520"/>
            <a:ext cx="11091672" cy="1828800"/>
          </a:xfrm>
          <a:prstGeom prst="roundRect">
            <a:avLst>
              <a:gd name="adj" fmla="val 4000"/>
            </a:avLst>
          </a:prstGeom>
          <a:solidFill>
            <a:srgbClr val="1A1A2E"/>
          </a:solidFill>
          <a:ln/>
        </p:spPr>
      </p:sp>
      <p:sp>
        <p:nvSpPr>
          <p:cNvPr id="16" name="Text 13"/>
          <p:cNvSpPr/>
          <p:nvPr/>
        </p:nvSpPr>
        <p:spPr>
          <a:xfrm>
            <a:off x="914400" y="4434840"/>
            <a:ext cx="10332720" cy="365760"/>
          </a:xfrm>
          <a:prstGeom prst="rect">
            <a:avLst/>
          </a:prstGeom>
          <a:noFill/>
          <a:ln/>
        </p:spPr>
        <p:txBody>
          <a:bodyPr wrap="square" lIns="0" tIns="0" rIns="0" bIns="0" rtlCol="0" anchor="ctr"/>
          <a:lstStyle/>
          <a:p>
            <a:pPr marL="0" indent="0">
              <a:buNone/>
            </a:pPr>
            <a:r>
              <a:rPr lang="en-US" sz="1500" b="1" dirty="0">
                <a:solidFill>
                  <a:srgbClr val="A78BFA"/>
                </a:solidFill>
                <a:latin typeface="Calibri" pitchFamily="34" charset="0"/>
                <a:ea typeface="Calibri" pitchFamily="34" charset="-122"/>
                <a:cs typeface="Calibri" pitchFamily="34" charset="-120"/>
              </a:rPr>
              <a:t>What this raise means operationally</a:t>
            </a:r>
            <a:endParaRPr lang="en-US" sz="1500" dirty="0"/>
          </a:p>
        </p:txBody>
      </p:sp>
      <p:sp>
        <p:nvSpPr>
          <p:cNvPr id="17" name="Text 14"/>
          <p:cNvSpPr/>
          <p:nvPr/>
        </p:nvSpPr>
        <p:spPr>
          <a:xfrm>
            <a:off x="914400" y="4892040"/>
            <a:ext cx="10332720" cy="1005840"/>
          </a:xfrm>
          <a:prstGeom prst="rect">
            <a:avLst/>
          </a:prstGeom>
          <a:noFill/>
          <a:ln/>
        </p:spPr>
        <p:txBody>
          <a:bodyPr wrap="square" lIns="0" tIns="0" rIns="0" bIns="0" rtlCol="0" anchor="ctr"/>
          <a:lstStyle/>
          <a:p>
            <a:pPr marL="0" indent="0">
              <a:lnSpc>
                <a:spcPct val="130000"/>
              </a:lnSpc>
              <a:buNone/>
            </a:pPr>
            <a:r>
              <a:rPr lang="en-US" sz="1350" dirty="0">
                <a:solidFill>
                  <a:srgbClr val="E5E1F5"/>
                </a:solidFill>
                <a:latin typeface="Calibri" pitchFamily="34" charset="0"/>
                <a:ea typeface="Calibri" pitchFamily="34" charset="-122"/>
                <a:cs typeface="Calibri" pitchFamily="34" charset="-120"/>
              </a:rPr>
              <a:t>Scaling IsoDDE across multiple concurrent drug design programs means a step change in structured and unstructured biological data volume, more research sites generating data in parallel, and tighter demands on cost control as compute and data infrastructure spend grows with the pipeline.</a:t>
            </a:r>
            <a:endParaRPr lang="en-US" sz="1350" dirty="0"/>
          </a:p>
        </p:txBody>
      </p:sp>
      <p:sp>
        <p:nvSpPr>
          <p:cNvPr id="18" name="Text 15"/>
          <p:cNvSpPr/>
          <p:nvPr/>
        </p:nvSpPr>
        <p:spPr>
          <a:xfrm>
            <a:off x="457200" y="6537960"/>
            <a:ext cx="3657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AtliQ Technologies</a:t>
            </a:r>
            <a:endParaRPr lang="en-US" sz="900" dirty="0"/>
          </a:p>
        </p:txBody>
      </p:sp>
      <p:sp>
        <p:nvSpPr>
          <p:cNvPr id="19" name="Text 16"/>
          <p:cNvSpPr/>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320040"/>
          </a:xfrm>
          <a:prstGeom prst="rect">
            <a:avLst/>
          </a:prstGeom>
          <a:noFill/>
          <a:ln/>
        </p:spPr>
        <p:txBody>
          <a:bodyPr wrap="square" lIns="0" tIns="0" rIns="0" bIns="0" rtlCol="0" anchor="ctr"/>
          <a:lstStyle/>
          <a:p>
            <a:pPr marL="0" indent="0">
              <a:buNone/>
            </a:pPr>
            <a:r>
              <a:rPr lang="en-US" sz="1200" b="1" kern="0" spc="150" dirty="0">
                <a:solidFill>
                  <a:srgbClr val="6425E9"/>
                </a:solidFill>
                <a:latin typeface="Calibri" pitchFamily="34" charset="0"/>
                <a:ea typeface="Calibri" pitchFamily="34" charset="-122"/>
                <a:cs typeface="Calibri" pitchFamily="34" charset="-120"/>
              </a:rPr>
              <a:t>THE RISK</a:t>
            </a:r>
            <a:endParaRPr lang="en-US" sz="1200" dirty="0"/>
          </a:p>
        </p:txBody>
      </p:sp>
      <p:sp>
        <p:nvSpPr>
          <p:cNvPr id="3" name="Text 1"/>
          <p:cNvSpPr/>
          <p:nvPr/>
        </p:nvSpPr>
        <p:spPr>
          <a:xfrm>
            <a:off x="548640" y="804672"/>
            <a:ext cx="10698480" cy="64008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Fix the Pipeline Sprawl Before It Slows You Down</a:t>
            </a:r>
            <a:endParaRPr lang="en-US" sz="2800" dirty="0"/>
          </a:p>
        </p:txBody>
      </p:sp>
      <p:sp>
        <p:nvSpPr>
          <p:cNvPr id="4" name="Text 2"/>
          <p:cNvSpPr/>
          <p:nvPr/>
        </p:nvSpPr>
        <p:spPr>
          <a:xfrm>
            <a:off x="548640" y="1444752"/>
            <a:ext cx="10332720" cy="45720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Three things tend to break first when a research org scales this fast.</a:t>
            </a:r>
            <a:endParaRPr lang="en-US" sz="1350" dirty="0"/>
          </a:p>
        </p:txBody>
      </p:sp>
      <p:sp>
        <p:nvSpPr>
          <p:cNvPr id="5" name="Shape 3"/>
          <p:cNvSpPr/>
          <p:nvPr/>
        </p:nvSpPr>
        <p:spPr>
          <a:xfrm>
            <a:off x="548640" y="2057400"/>
            <a:ext cx="3429000" cy="2743200"/>
          </a:xfrm>
          <a:prstGeom prst="roundRect">
            <a:avLst>
              <a:gd name="adj" fmla="val 2667"/>
            </a:avLst>
          </a:prstGeom>
          <a:solidFill>
            <a:srgbClr val="F7F5FC"/>
          </a:solidFill>
          <a:ln w="12700">
            <a:solidFill>
              <a:srgbClr val="E5E1F5"/>
            </a:solidFill>
            <a:prstDash val="solid"/>
          </a:ln>
        </p:spPr>
      </p:sp>
      <p:sp>
        <p:nvSpPr>
          <p:cNvPr id="6" name="Shape 4"/>
          <p:cNvSpPr/>
          <p:nvPr/>
        </p:nvSpPr>
        <p:spPr>
          <a:xfrm>
            <a:off x="822960" y="2331720"/>
            <a:ext cx="502920" cy="502920"/>
          </a:xfrm>
          <a:prstGeom prst="ellipse">
            <a:avLst/>
          </a:prstGeom>
          <a:solidFill>
            <a:srgbClr val="6425E9"/>
          </a:solidFill>
          <a:ln/>
        </p:spPr>
      </p:sp>
      <p:sp>
        <p:nvSpPr>
          <p:cNvPr id="7" name="Text 5"/>
          <p:cNvSpPr/>
          <p:nvPr/>
        </p:nvSpPr>
        <p:spPr>
          <a:xfrm>
            <a:off x="822960" y="23317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822960" y="3017520"/>
            <a:ext cx="2880360" cy="457200"/>
          </a:xfrm>
          <a:prstGeom prst="rect">
            <a:avLst/>
          </a:prstGeom>
          <a:noFill/>
          <a:ln/>
        </p:spPr>
        <p:txBody>
          <a:bodyPr wrap="square" lIns="0" tIns="0" rIns="0" bIns="0"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Fragmented pipelines</a:t>
            </a:r>
            <a:endParaRPr lang="en-US" sz="1600" dirty="0"/>
          </a:p>
        </p:txBody>
      </p:sp>
      <p:sp>
        <p:nvSpPr>
          <p:cNvPr id="9" name="Text 7"/>
          <p:cNvSpPr/>
          <p:nvPr/>
        </p:nvSpPr>
        <p:spPr>
          <a:xfrm>
            <a:off x="822960" y="3474720"/>
            <a:ext cx="2880360" cy="1188720"/>
          </a:xfrm>
          <a:prstGeom prst="rect">
            <a:avLst/>
          </a:prstGeom>
          <a:noFill/>
          <a:ln/>
        </p:spPr>
        <p:txBody>
          <a:bodyPr wrap="square" lIns="0" tIns="0" rIns="0" bIns="0" rtlCol="0" anchor="ctr"/>
          <a:lstStyle/>
          <a:p>
            <a:pPr marL="0" indent="0">
              <a:lnSpc>
                <a:spcPct val="130000"/>
              </a:lnSpc>
              <a:buNone/>
            </a:pPr>
            <a:r>
              <a:rPr lang="en-US" sz="1250" dirty="0">
                <a:solidFill>
                  <a:srgbClr val="6B7280"/>
                </a:solidFill>
                <a:latin typeface="Calibri" pitchFamily="34" charset="0"/>
                <a:ea typeface="Calibri" pitchFamily="34" charset="-122"/>
                <a:cs typeface="Calibri" pitchFamily="34" charset="-120"/>
              </a:rPr>
              <a:t>New therapeutic programs and sites each spin up their own data flows, and warehousing struggles to keep pace with the sprawl.</a:t>
            </a:r>
            <a:endParaRPr lang="en-US" sz="1250" dirty="0"/>
          </a:p>
        </p:txBody>
      </p:sp>
      <p:sp>
        <p:nvSpPr>
          <p:cNvPr id="10" name="Shape 8"/>
          <p:cNvSpPr/>
          <p:nvPr/>
        </p:nvSpPr>
        <p:spPr>
          <a:xfrm>
            <a:off x="4297680" y="2057400"/>
            <a:ext cx="3429000" cy="2743200"/>
          </a:xfrm>
          <a:prstGeom prst="roundRect">
            <a:avLst>
              <a:gd name="adj" fmla="val 2667"/>
            </a:avLst>
          </a:prstGeom>
          <a:solidFill>
            <a:srgbClr val="F7F5FC"/>
          </a:solidFill>
          <a:ln w="12700">
            <a:solidFill>
              <a:srgbClr val="E5E1F5"/>
            </a:solidFill>
            <a:prstDash val="solid"/>
          </a:ln>
        </p:spPr>
      </p:sp>
      <p:sp>
        <p:nvSpPr>
          <p:cNvPr id="11" name="Shape 9"/>
          <p:cNvSpPr/>
          <p:nvPr/>
        </p:nvSpPr>
        <p:spPr>
          <a:xfrm>
            <a:off x="4572000" y="2331720"/>
            <a:ext cx="502920" cy="502920"/>
          </a:xfrm>
          <a:prstGeom prst="ellipse">
            <a:avLst/>
          </a:prstGeom>
          <a:solidFill>
            <a:srgbClr val="6425E9"/>
          </a:solidFill>
          <a:ln/>
        </p:spPr>
      </p:sp>
      <p:sp>
        <p:nvSpPr>
          <p:cNvPr id="12" name="Text 10"/>
          <p:cNvSpPr/>
          <p:nvPr/>
        </p:nvSpPr>
        <p:spPr>
          <a:xfrm>
            <a:off x="4572000" y="23317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4572000" y="3017520"/>
            <a:ext cx="2880360" cy="457200"/>
          </a:xfrm>
          <a:prstGeom prst="rect">
            <a:avLst/>
          </a:prstGeom>
          <a:noFill/>
          <a:ln/>
        </p:spPr>
        <p:txBody>
          <a:bodyPr wrap="square" lIns="0" tIns="0" rIns="0" bIns="0"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Slower decisions</a:t>
            </a:r>
            <a:endParaRPr lang="en-US" sz="1600" dirty="0"/>
          </a:p>
        </p:txBody>
      </p:sp>
      <p:sp>
        <p:nvSpPr>
          <p:cNvPr id="14" name="Text 12"/>
          <p:cNvSpPr/>
          <p:nvPr/>
        </p:nvSpPr>
        <p:spPr>
          <a:xfrm>
            <a:off x="4572000" y="3474720"/>
            <a:ext cx="2880360" cy="1188720"/>
          </a:xfrm>
          <a:prstGeom prst="rect">
            <a:avLst/>
          </a:prstGeom>
          <a:noFill/>
          <a:ln/>
        </p:spPr>
        <p:txBody>
          <a:bodyPr wrap="square" lIns="0" tIns="0" rIns="0" bIns="0" rtlCol="0" anchor="ctr"/>
          <a:lstStyle/>
          <a:p>
            <a:pPr marL="0" indent="0">
              <a:lnSpc>
                <a:spcPct val="130000"/>
              </a:lnSpc>
              <a:buNone/>
            </a:pPr>
            <a:r>
              <a:rPr lang="en-US" sz="1250" dirty="0">
                <a:solidFill>
                  <a:srgbClr val="6B7280"/>
                </a:solidFill>
                <a:latin typeface="Calibri" pitchFamily="34" charset="0"/>
                <a:ea typeface="Calibri" pitchFamily="34" charset="-122"/>
                <a:cs typeface="Calibri" pitchFamily="34" charset="-120"/>
              </a:rPr>
              <a:t>Leadership and research teams need live visibility into program progress and spend, not static reports built days later.</a:t>
            </a:r>
            <a:endParaRPr lang="en-US" sz="1250" dirty="0"/>
          </a:p>
        </p:txBody>
      </p:sp>
      <p:sp>
        <p:nvSpPr>
          <p:cNvPr id="15" name="Shape 13"/>
          <p:cNvSpPr/>
          <p:nvPr/>
        </p:nvSpPr>
        <p:spPr>
          <a:xfrm>
            <a:off x="8046720" y="2057400"/>
            <a:ext cx="3429000" cy="2743200"/>
          </a:xfrm>
          <a:prstGeom prst="roundRect">
            <a:avLst>
              <a:gd name="adj" fmla="val 2667"/>
            </a:avLst>
          </a:prstGeom>
          <a:solidFill>
            <a:srgbClr val="F7F5FC"/>
          </a:solidFill>
          <a:ln w="12700">
            <a:solidFill>
              <a:srgbClr val="E5E1F5"/>
            </a:solidFill>
            <a:prstDash val="solid"/>
          </a:ln>
        </p:spPr>
      </p:sp>
      <p:sp>
        <p:nvSpPr>
          <p:cNvPr id="16" name="Shape 14"/>
          <p:cNvSpPr/>
          <p:nvPr/>
        </p:nvSpPr>
        <p:spPr>
          <a:xfrm>
            <a:off x="8321040" y="2331720"/>
            <a:ext cx="502920" cy="502920"/>
          </a:xfrm>
          <a:prstGeom prst="ellipse">
            <a:avLst/>
          </a:prstGeom>
          <a:solidFill>
            <a:srgbClr val="6425E9"/>
          </a:solidFill>
          <a:ln/>
        </p:spPr>
      </p:sp>
      <p:sp>
        <p:nvSpPr>
          <p:cNvPr id="17" name="Text 15"/>
          <p:cNvSpPr/>
          <p:nvPr/>
        </p:nvSpPr>
        <p:spPr>
          <a:xfrm>
            <a:off x="8321040" y="23317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6"/>
          <p:cNvSpPr/>
          <p:nvPr/>
        </p:nvSpPr>
        <p:spPr>
          <a:xfrm>
            <a:off x="8321040" y="3017520"/>
            <a:ext cx="2880360" cy="457200"/>
          </a:xfrm>
          <a:prstGeom prst="rect">
            <a:avLst/>
          </a:prstGeom>
          <a:noFill/>
          <a:ln/>
        </p:spPr>
        <p:txBody>
          <a:bodyPr wrap="square" lIns="0" tIns="0" rIns="0" bIns="0"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Runaway cost</a:t>
            </a:r>
            <a:endParaRPr lang="en-US" sz="1600" dirty="0"/>
          </a:p>
        </p:txBody>
      </p:sp>
      <p:sp>
        <p:nvSpPr>
          <p:cNvPr id="19" name="Text 17"/>
          <p:cNvSpPr/>
          <p:nvPr/>
        </p:nvSpPr>
        <p:spPr>
          <a:xfrm>
            <a:off x="8321040" y="3474720"/>
            <a:ext cx="2880360" cy="1188720"/>
          </a:xfrm>
          <a:prstGeom prst="rect">
            <a:avLst/>
          </a:prstGeom>
          <a:noFill/>
          <a:ln/>
        </p:spPr>
        <p:txBody>
          <a:bodyPr wrap="square" lIns="0" tIns="0" rIns="0" bIns="0" rtlCol="0" anchor="ctr"/>
          <a:lstStyle/>
          <a:p>
            <a:pPr marL="0" indent="0">
              <a:lnSpc>
                <a:spcPct val="130000"/>
              </a:lnSpc>
              <a:buNone/>
            </a:pPr>
            <a:r>
              <a:rPr lang="en-US" sz="1250" dirty="0">
                <a:solidFill>
                  <a:srgbClr val="6B7280"/>
                </a:solidFill>
                <a:latin typeface="Calibri" pitchFamily="34" charset="0"/>
                <a:ea typeface="Calibri" pitchFamily="34" charset="-122"/>
                <a:cs typeface="Calibri" pitchFamily="34" charset="-120"/>
              </a:rPr>
              <a:t>Compute and storage costs scale with every new program unless there is active, built-in cost control from day one.</a:t>
            </a:r>
            <a:endParaRPr lang="en-US" sz="1250" dirty="0"/>
          </a:p>
        </p:txBody>
      </p:sp>
      <p:sp>
        <p:nvSpPr>
          <p:cNvPr id="20" name="Text 18"/>
          <p:cNvSpPr/>
          <p:nvPr/>
        </p:nvSpPr>
        <p:spPr>
          <a:xfrm>
            <a:off x="457200" y="6537960"/>
            <a:ext cx="3657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AtliQ Technologies</a:t>
            </a:r>
            <a:endParaRPr lang="en-US" sz="900" dirty="0"/>
          </a:p>
        </p:txBody>
      </p:sp>
      <p:sp>
        <p:nvSpPr>
          <p:cNvPr id="21" name="Text 19"/>
          <p:cNvSpPr/>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320040"/>
          </a:xfrm>
          <a:prstGeom prst="rect">
            <a:avLst/>
          </a:prstGeom>
          <a:noFill/>
          <a:ln/>
        </p:spPr>
        <p:txBody>
          <a:bodyPr wrap="square" lIns="0" tIns="0" rIns="0" bIns="0" rtlCol="0" anchor="ctr"/>
          <a:lstStyle/>
          <a:p>
            <a:pPr marL="0" indent="0">
              <a:buNone/>
            </a:pPr>
            <a:r>
              <a:rPr lang="en-US" sz="1200" b="1" kern="0" spc="150" dirty="0">
                <a:solidFill>
                  <a:srgbClr val="A78BFA"/>
                </a:solidFill>
                <a:latin typeface="Calibri" pitchFamily="34" charset="0"/>
                <a:ea typeface="Calibri" pitchFamily="34" charset="-122"/>
                <a:cs typeface="Calibri" pitchFamily="34" charset="-120"/>
              </a:rPr>
              <a:t>THE PLAN</a:t>
            </a:r>
            <a:endParaRPr lang="en-US" sz="1200" dirty="0"/>
          </a:p>
        </p:txBody>
      </p:sp>
      <p:sp>
        <p:nvSpPr>
          <p:cNvPr id="3" name="Text 1"/>
          <p:cNvSpPr/>
          <p:nvPr/>
        </p:nvSpPr>
        <p:spPr>
          <a:xfrm>
            <a:off x="548640" y="804672"/>
            <a:ext cx="1069848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Scale Every Program on One Data Platform</a:t>
            </a:r>
            <a:endParaRPr lang="en-US" sz="2800" dirty="0"/>
          </a:p>
        </p:txBody>
      </p:sp>
      <p:sp>
        <p:nvSpPr>
          <p:cNvPr id="4" name="Text 2"/>
          <p:cNvSpPr/>
          <p:nvPr/>
        </p:nvSpPr>
        <p:spPr>
          <a:xfrm>
            <a:off x="548640" y="1444752"/>
            <a:ext cx="10332720" cy="457200"/>
          </a:xfrm>
          <a:prstGeom prst="rect">
            <a:avLst/>
          </a:prstGeom>
          <a:noFill/>
          <a:ln/>
        </p:spPr>
        <p:txBody>
          <a:bodyPr wrap="square" lIns="0" tIns="0" rIns="0" bIns="0" rtlCol="0" anchor="ctr"/>
          <a:lstStyle/>
          <a:p>
            <a:pPr marL="0" indent="0">
              <a:buNone/>
            </a:pPr>
            <a:r>
              <a:rPr lang="en-US" sz="1350" dirty="0">
                <a:solidFill>
                  <a:srgbClr val="C9C4E0"/>
                </a:solidFill>
                <a:latin typeface="Calibri" pitchFamily="34" charset="0"/>
                <a:ea typeface="Calibri" pitchFamily="34" charset="-122"/>
                <a:cs typeface="Calibri" pitchFamily="34" charset="-120"/>
              </a:rPr>
              <a:t>One platform for warehousing, live dashboards, automated pipelines, and cost control.</a:t>
            </a:r>
            <a:endParaRPr lang="en-US" sz="1350" dirty="0"/>
          </a:p>
        </p:txBody>
      </p:sp>
      <p:sp>
        <p:nvSpPr>
          <p:cNvPr id="5" name="Shape 3"/>
          <p:cNvSpPr/>
          <p:nvPr/>
        </p:nvSpPr>
        <p:spPr>
          <a:xfrm>
            <a:off x="548640" y="2057400"/>
            <a:ext cx="11091672" cy="960120"/>
          </a:xfrm>
          <a:prstGeom prst="roundRect">
            <a:avLst>
              <a:gd name="adj" fmla="val 5714"/>
            </a:avLst>
          </a:prstGeom>
          <a:solidFill>
            <a:srgbClr val="241B3D"/>
          </a:solidFill>
          <a:ln/>
        </p:spPr>
      </p:sp>
      <p:sp>
        <p:nvSpPr>
          <p:cNvPr id="6" name="Shape 4"/>
          <p:cNvSpPr/>
          <p:nvPr/>
        </p:nvSpPr>
        <p:spPr>
          <a:xfrm>
            <a:off x="777240" y="2286000"/>
            <a:ext cx="502920" cy="502920"/>
          </a:xfrm>
          <a:prstGeom prst="roundRect">
            <a:avLst>
              <a:gd name="adj" fmla="val 18182"/>
            </a:avLst>
          </a:prstGeom>
          <a:solidFill>
            <a:srgbClr val="6425E9"/>
          </a:solidFill>
          <a:ln/>
        </p:spPr>
      </p:sp>
      <p:sp>
        <p:nvSpPr>
          <p:cNvPr id="7" name="Text 5"/>
          <p:cNvSpPr/>
          <p:nvPr/>
        </p:nvSpPr>
        <p:spPr>
          <a:xfrm>
            <a:off x="777240" y="22860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508760" y="2130552"/>
            <a:ext cx="2834640" cy="813816"/>
          </a:xfrm>
          <a:prstGeom prst="rect">
            <a:avLst/>
          </a:prstGeom>
          <a:noFill/>
          <a:ln/>
        </p:spPr>
        <p:txBody>
          <a:bodyPr wrap="square" lIns="0" tIns="0" rIns="0" bIns="0" rtlCol="0" anchor="ctr"/>
          <a:lstStyle/>
          <a:p>
            <a:pPr marL="0" indent="0">
              <a:lnSpc>
                <a:spcPct val="110000"/>
              </a:lnSpc>
              <a:buNone/>
            </a:pPr>
            <a:r>
              <a:rPr lang="en-US" sz="1450" b="1" dirty="0">
                <a:solidFill>
                  <a:srgbClr val="A78BFA"/>
                </a:solidFill>
                <a:latin typeface="Calibri" pitchFamily="34" charset="0"/>
                <a:ea typeface="Calibri" pitchFamily="34" charset="-122"/>
                <a:cs typeface="Calibri" pitchFamily="34" charset="-120"/>
              </a:rPr>
              <a:t>Unified data warehousing</a:t>
            </a:r>
            <a:endParaRPr lang="en-US" sz="1450" dirty="0"/>
          </a:p>
        </p:txBody>
      </p:sp>
      <p:sp>
        <p:nvSpPr>
          <p:cNvPr id="9" name="Text 7"/>
          <p:cNvSpPr/>
          <p:nvPr/>
        </p:nvSpPr>
        <p:spPr>
          <a:xfrm>
            <a:off x="4480560" y="2130552"/>
            <a:ext cx="6949440" cy="813816"/>
          </a:xfrm>
          <a:prstGeom prst="rect">
            <a:avLst/>
          </a:prstGeom>
          <a:noFill/>
          <a:ln/>
        </p:spPr>
        <p:txBody>
          <a:bodyPr wrap="square" lIns="0" tIns="0" rIns="0" bIns="0" rtlCol="0" anchor="ctr"/>
          <a:lstStyle/>
          <a:p>
            <a:pPr marL="0" indent="0">
              <a:lnSpc>
                <a:spcPct val="125000"/>
              </a:lnSpc>
              <a:buNone/>
            </a:pPr>
            <a:r>
              <a:rPr lang="en-US" sz="1250" dirty="0">
                <a:solidFill>
                  <a:srgbClr val="E5E1F5"/>
                </a:solidFill>
                <a:latin typeface="Calibri" pitchFamily="34" charset="0"/>
                <a:ea typeface="Calibri" pitchFamily="34" charset="-122"/>
                <a:cs typeface="Calibri" pitchFamily="34" charset="-120"/>
              </a:rPr>
              <a:t>One warehouse for every program and site, so new research lines plug in without a new pipeline build each time.</a:t>
            </a:r>
            <a:endParaRPr lang="en-US" sz="1250" dirty="0"/>
          </a:p>
        </p:txBody>
      </p:sp>
      <p:sp>
        <p:nvSpPr>
          <p:cNvPr id="10" name="Shape 8"/>
          <p:cNvSpPr/>
          <p:nvPr/>
        </p:nvSpPr>
        <p:spPr>
          <a:xfrm>
            <a:off x="548640" y="3108960"/>
            <a:ext cx="11091672" cy="960120"/>
          </a:xfrm>
          <a:prstGeom prst="roundRect">
            <a:avLst>
              <a:gd name="adj" fmla="val 5714"/>
            </a:avLst>
          </a:prstGeom>
          <a:solidFill>
            <a:srgbClr val="241B3D"/>
          </a:solidFill>
          <a:ln/>
        </p:spPr>
      </p:sp>
      <p:sp>
        <p:nvSpPr>
          <p:cNvPr id="11" name="Shape 9"/>
          <p:cNvSpPr/>
          <p:nvPr/>
        </p:nvSpPr>
        <p:spPr>
          <a:xfrm>
            <a:off x="777240" y="3337560"/>
            <a:ext cx="502920" cy="502920"/>
          </a:xfrm>
          <a:prstGeom prst="roundRect">
            <a:avLst>
              <a:gd name="adj" fmla="val 18182"/>
            </a:avLst>
          </a:prstGeom>
          <a:solidFill>
            <a:srgbClr val="6425E9"/>
          </a:solidFill>
          <a:ln/>
        </p:spPr>
      </p:sp>
      <p:sp>
        <p:nvSpPr>
          <p:cNvPr id="12" name="Text 10"/>
          <p:cNvSpPr/>
          <p:nvPr/>
        </p:nvSpPr>
        <p:spPr>
          <a:xfrm>
            <a:off x="777240" y="33375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508760" y="3182112"/>
            <a:ext cx="2834640" cy="813816"/>
          </a:xfrm>
          <a:prstGeom prst="rect">
            <a:avLst/>
          </a:prstGeom>
          <a:noFill/>
          <a:ln/>
        </p:spPr>
        <p:txBody>
          <a:bodyPr wrap="square" lIns="0" tIns="0" rIns="0" bIns="0" rtlCol="0" anchor="ctr"/>
          <a:lstStyle/>
          <a:p>
            <a:pPr marL="0" indent="0">
              <a:lnSpc>
                <a:spcPct val="110000"/>
              </a:lnSpc>
              <a:buNone/>
            </a:pPr>
            <a:r>
              <a:rPr lang="en-US" sz="1450" b="1" dirty="0">
                <a:solidFill>
                  <a:srgbClr val="A78BFA"/>
                </a:solidFill>
                <a:latin typeface="Calibri" pitchFamily="34" charset="0"/>
                <a:ea typeface="Calibri" pitchFamily="34" charset="-122"/>
                <a:cs typeface="Calibri" pitchFamily="34" charset="-120"/>
              </a:rPr>
              <a:t>Live BI dashboards</a:t>
            </a:r>
            <a:endParaRPr lang="en-US" sz="1450" dirty="0"/>
          </a:p>
        </p:txBody>
      </p:sp>
      <p:sp>
        <p:nvSpPr>
          <p:cNvPr id="14" name="Text 12"/>
          <p:cNvSpPr/>
          <p:nvPr/>
        </p:nvSpPr>
        <p:spPr>
          <a:xfrm>
            <a:off x="4480560" y="3182112"/>
            <a:ext cx="6949440" cy="813816"/>
          </a:xfrm>
          <a:prstGeom prst="rect">
            <a:avLst/>
          </a:prstGeom>
          <a:noFill/>
          <a:ln/>
        </p:spPr>
        <p:txBody>
          <a:bodyPr wrap="square" lIns="0" tIns="0" rIns="0" bIns="0" rtlCol="0" anchor="ctr"/>
          <a:lstStyle/>
          <a:p>
            <a:pPr marL="0" indent="0">
              <a:lnSpc>
                <a:spcPct val="125000"/>
              </a:lnSpc>
              <a:buNone/>
            </a:pPr>
            <a:r>
              <a:rPr lang="en-US" sz="1250" dirty="0">
                <a:solidFill>
                  <a:srgbClr val="E5E1F5"/>
                </a:solidFill>
                <a:latin typeface="Calibri" pitchFamily="34" charset="0"/>
                <a:ea typeface="Calibri" pitchFamily="34" charset="-122"/>
                <a:cs typeface="Calibri" pitchFamily="34" charset="-120"/>
              </a:rPr>
              <a:t>Real-time visibility for research and leadership teams, so decisions don't wait on a weekly report cycle.</a:t>
            </a:r>
            <a:endParaRPr lang="en-US" sz="1250" dirty="0"/>
          </a:p>
        </p:txBody>
      </p:sp>
      <p:sp>
        <p:nvSpPr>
          <p:cNvPr id="15" name="Shape 13"/>
          <p:cNvSpPr/>
          <p:nvPr/>
        </p:nvSpPr>
        <p:spPr>
          <a:xfrm>
            <a:off x="548640" y="4160520"/>
            <a:ext cx="11091672" cy="960120"/>
          </a:xfrm>
          <a:prstGeom prst="roundRect">
            <a:avLst>
              <a:gd name="adj" fmla="val 5714"/>
            </a:avLst>
          </a:prstGeom>
          <a:solidFill>
            <a:srgbClr val="241B3D"/>
          </a:solidFill>
          <a:ln/>
        </p:spPr>
      </p:sp>
      <p:sp>
        <p:nvSpPr>
          <p:cNvPr id="16" name="Shape 14"/>
          <p:cNvSpPr/>
          <p:nvPr/>
        </p:nvSpPr>
        <p:spPr>
          <a:xfrm>
            <a:off x="777240" y="4389120"/>
            <a:ext cx="502920" cy="502920"/>
          </a:xfrm>
          <a:prstGeom prst="roundRect">
            <a:avLst>
              <a:gd name="adj" fmla="val 18182"/>
            </a:avLst>
          </a:prstGeom>
          <a:solidFill>
            <a:srgbClr val="6425E9"/>
          </a:solidFill>
          <a:ln/>
        </p:spPr>
      </p:sp>
      <p:sp>
        <p:nvSpPr>
          <p:cNvPr id="17" name="Text 15"/>
          <p:cNvSpPr/>
          <p:nvPr/>
        </p:nvSpPr>
        <p:spPr>
          <a:xfrm>
            <a:off x="777240" y="4389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508760" y="4233672"/>
            <a:ext cx="2834640" cy="813816"/>
          </a:xfrm>
          <a:prstGeom prst="rect">
            <a:avLst/>
          </a:prstGeom>
          <a:noFill/>
          <a:ln/>
        </p:spPr>
        <p:txBody>
          <a:bodyPr wrap="square" lIns="0" tIns="0" rIns="0" bIns="0" rtlCol="0" anchor="ctr"/>
          <a:lstStyle/>
          <a:p>
            <a:pPr marL="0" indent="0">
              <a:lnSpc>
                <a:spcPct val="110000"/>
              </a:lnSpc>
              <a:buNone/>
            </a:pPr>
            <a:r>
              <a:rPr lang="en-US" sz="1450" b="1" dirty="0">
                <a:solidFill>
                  <a:srgbClr val="A78BFA"/>
                </a:solidFill>
                <a:latin typeface="Calibri" pitchFamily="34" charset="0"/>
                <a:ea typeface="Calibri" pitchFamily="34" charset="-122"/>
                <a:cs typeface="Calibri" pitchFamily="34" charset="-120"/>
              </a:rPr>
              <a:t>Automated pipelines</a:t>
            </a:r>
            <a:endParaRPr lang="en-US" sz="1450" dirty="0"/>
          </a:p>
        </p:txBody>
      </p:sp>
      <p:sp>
        <p:nvSpPr>
          <p:cNvPr id="19" name="Text 17"/>
          <p:cNvSpPr/>
          <p:nvPr/>
        </p:nvSpPr>
        <p:spPr>
          <a:xfrm>
            <a:off x="4480560" y="4233672"/>
            <a:ext cx="6949440" cy="813816"/>
          </a:xfrm>
          <a:prstGeom prst="rect">
            <a:avLst/>
          </a:prstGeom>
          <a:noFill/>
          <a:ln/>
        </p:spPr>
        <p:txBody>
          <a:bodyPr wrap="square" lIns="0" tIns="0" rIns="0" bIns="0" rtlCol="0" anchor="ctr"/>
          <a:lstStyle/>
          <a:p>
            <a:pPr marL="0" indent="0">
              <a:lnSpc>
                <a:spcPct val="125000"/>
              </a:lnSpc>
              <a:buNone/>
            </a:pPr>
            <a:r>
              <a:rPr lang="en-US" sz="1250" dirty="0">
                <a:solidFill>
                  <a:srgbClr val="E5E1F5"/>
                </a:solidFill>
                <a:latin typeface="Calibri" pitchFamily="34" charset="0"/>
                <a:ea typeface="Calibri" pitchFamily="34" charset="-122"/>
                <a:cs typeface="Calibri" pitchFamily="34" charset="-120"/>
              </a:rPr>
              <a:t>New data sources onboard in days, not months, so infrastructure scales at the same pace as your pipeline.</a:t>
            </a:r>
            <a:endParaRPr lang="en-US" sz="1250" dirty="0"/>
          </a:p>
        </p:txBody>
      </p:sp>
      <p:sp>
        <p:nvSpPr>
          <p:cNvPr id="20" name="Shape 18"/>
          <p:cNvSpPr/>
          <p:nvPr/>
        </p:nvSpPr>
        <p:spPr>
          <a:xfrm>
            <a:off x="548640" y="5212080"/>
            <a:ext cx="11091672" cy="960120"/>
          </a:xfrm>
          <a:prstGeom prst="roundRect">
            <a:avLst>
              <a:gd name="adj" fmla="val 5714"/>
            </a:avLst>
          </a:prstGeom>
          <a:solidFill>
            <a:srgbClr val="241B3D"/>
          </a:solidFill>
          <a:ln/>
        </p:spPr>
      </p:sp>
      <p:sp>
        <p:nvSpPr>
          <p:cNvPr id="21" name="Shape 19"/>
          <p:cNvSpPr/>
          <p:nvPr/>
        </p:nvSpPr>
        <p:spPr>
          <a:xfrm>
            <a:off x="777240" y="5440680"/>
            <a:ext cx="502920" cy="502920"/>
          </a:xfrm>
          <a:prstGeom prst="roundRect">
            <a:avLst>
              <a:gd name="adj" fmla="val 18182"/>
            </a:avLst>
          </a:prstGeom>
          <a:solidFill>
            <a:srgbClr val="6425E9"/>
          </a:solidFill>
          <a:ln/>
        </p:spPr>
      </p:sp>
      <p:sp>
        <p:nvSpPr>
          <p:cNvPr id="22" name="Text 20"/>
          <p:cNvSpPr/>
          <p:nvPr/>
        </p:nvSpPr>
        <p:spPr>
          <a:xfrm>
            <a:off x="777240" y="5440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508760" y="5285232"/>
            <a:ext cx="2834640" cy="813816"/>
          </a:xfrm>
          <a:prstGeom prst="rect">
            <a:avLst/>
          </a:prstGeom>
          <a:noFill/>
          <a:ln/>
        </p:spPr>
        <p:txBody>
          <a:bodyPr wrap="square" lIns="0" tIns="0" rIns="0" bIns="0" rtlCol="0" anchor="ctr"/>
          <a:lstStyle/>
          <a:p>
            <a:pPr marL="0" indent="0">
              <a:lnSpc>
                <a:spcPct val="110000"/>
              </a:lnSpc>
              <a:buNone/>
            </a:pPr>
            <a:r>
              <a:rPr lang="en-US" sz="1450" b="1" dirty="0">
                <a:solidFill>
                  <a:srgbClr val="A78BFA"/>
                </a:solidFill>
                <a:latin typeface="Calibri" pitchFamily="34" charset="0"/>
                <a:ea typeface="Calibri" pitchFamily="34" charset="-122"/>
                <a:cs typeface="Calibri" pitchFamily="34" charset="-120"/>
              </a:rPr>
              <a:t>Built-in cost controls</a:t>
            </a:r>
            <a:endParaRPr lang="en-US" sz="1450" dirty="0"/>
          </a:p>
        </p:txBody>
      </p:sp>
      <p:sp>
        <p:nvSpPr>
          <p:cNvPr id="24" name="Text 22"/>
          <p:cNvSpPr/>
          <p:nvPr/>
        </p:nvSpPr>
        <p:spPr>
          <a:xfrm>
            <a:off x="4480560" y="5285232"/>
            <a:ext cx="6949440" cy="813816"/>
          </a:xfrm>
          <a:prstGeom prst="rect">
            <a:avLst/>
          </a:prstGeom>
          <a:noFill/>
          <a:ln/>
        </p:spPr>
        <p:txBody>
          <a:bodyPr wrap="square" lIns="0" tIns="0" rIns="0" bIns="0" rtlCol="0" anchor="ctr"/>
          <a:lstStyle/>
          <a:p>
            <a:pPr marL="0" indent="0">
              <a:lnSpc>
                <a:spcPct val="125000"/>
              </a:lnSpc>
              <a:buNone/>
            </a:pPr>
            <a:r>
              <a:rPr lang="en-US" sz="1250" dirty="0">
                <a:solidFill>
                  <a:srgbClr val="E5E1F5"/>
                </a:solidFill>
                <a:latin typeface="Calibri" pitchFamily="34" charset="0"/>
                <a:ea typeface="Calibri" pitchFamily="34" charset="-122"/>
                <a:cs typeface="Calibri" pitchFamily="34" charset="-120"/>
              </a:rPr>
              <a:t>Spend guardrails baked into the platform, so a bigger data footprint doesn't mean a runaway compute bill.</a:t>
            </a:r>
            <a:endParaRPr lang="en-US" sz="1250" dirty="0"/>
          </a:p>
        </p:txBody>
      </p:sp>
      <p:sp>
        <p:nvSpPr>
          <p:cNvPr id="25" name="Text 23"/>
          <p:cNvSpPr/>
          <p:nvPr/>
        </p:nvSpPr>
        <p:spPr>
          <a:xfrm>
            <a:off x="457200" y="6537960"/>
            <a:ext cx="3657600" cy="274320"/>
          </a:xfrm>
          <a:prstGeom prst="rect">
            <a:avLst/>
          </a:prstGeom>
          <a:noFill/>
          <a:ln/>
        </p:spPr>
        <p:txBody>
          <a:bodyPr wrap="square" lIns="0" tIns="0" rIns="0" bIns="0" rtlCol="0" anchor="ctr"/>
          <a:lstStyle/>
          <a:p>
            <a:pPr marL="0" indent="0" algn="l">
              <a:buNone/>
            </a:pPr>
            <a:r>
              <a:rPr lang="en-US" sz="900" dirty="0">
                <a:solidFill>
                  <a:srgbClr val="FFFFFF">
                    <a:alpha val="75000"/>
                  </a:srgbClr>
                </a:solidFill>
                <a:latin typeface="Calibri" pitchFamily="34" charset="0"/>
                <a:ea typeface="Calibri" pitchFamily="34" charset="-122"/>
                <a:cs typeface="Calibri" pitchFamily="34" charset="-120"/>
              </a:rPr>
              <a:t>AtliQ Technologies</a:t>
            </a:r>
            <a:endParaRPr lang="en-US" sz="900" dirty="0"/>
          </a:p>
        </p:txBody>
      </p:sp>
      <p:sp>
        <p:nvSpPr>
          <p:cNvPr id="26" name="Text 24"/>
          <p:cNvSpPr/>
          <p:nvPr/>
        </p:nvSpPr>
        <p:spPr>
          <a:xfrm>
            <a:off x="11277295" y="6537960"/>
            <a:ext cx="457200" cy="274320"/>
          </a:xfrm>
          <a:prstGeom prst="rect">
            <a:avLst/>
          </a:prstGeom>
          <a:noFill/>
          <a:ln/>
        </p:spPr>
        <p:txBody>
          <a:bodyPr wrap="square" lIns="0" tIns="0" rIns="0" bIns="0" rtlCol="0" anchor="ctr"/>
          <a:lstStyle/>
          <a:p>
            <a:pPr marL="0" indent="0" algn="r">
              <a:buNone/>
            </a:pPr>
            <a:r>
              <a:rPr lang="en-US" sz="900" dirty="0">
                <a:solidFill>
                  <a:srgbClr val="FFFFFF">
                    <a:alpha val="75000"/>
                  </a:srgbClr>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425E9"/>
        </a:solidFill>
        <a:effectLst/>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1A1A2E"/>
          </a:solidFill>
          <a:ln/>
        </p:spPr>
      </p:sp>
      <p:pic>
        <p:nvPicPr>
          <p:cNvPr id="3" name="Image 0" descr="assets/logo_white_card.png"/>
          <p:cNvPicPr>
            <a:picLocks noChangeAspect="1"/>
          </p:cNvPicPr>
          <p:nvPr/>
        </p:nvPicPr>
        <p:blipFill>
          <a:blip r:embed="rId3"/>
          <a:stretch>
            <a:fillRect/>
          </a:stretch>
        </p:blipFill>
        <p:spPr>
          <a:xfrm>
            <a:off x="548640" y="502920"/>
            <a:ext cx="2103120" cy="731520"/>
          </a:xfrm>
          <a:prstGeom prst="rect">
            <a:avLst/>
          </a:prstGeom>
        </p:spPr>
      </p:pic>
      <p:sp>
        <p:nvSpPr>
          <p:cNvPr id="4" name="Text 1"/>
          <p:cNvSpPr/>
          <p:nvPr/>
        </p:nvSpPr>
        <p:spPr>
          <a:xfrm>
            <a:off x="548640" y="1828800"/>
            <a:ext cx="105156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Let Us Handle the Data,</a:t>
            </a:r>
            <a:endParaRPr lang="en-US" sz="3400" dirty="0"/>
          </a:p>
        </p:txBody>
      </p:sp>
      <p:sp>
        <p:nvSpPr>
          <p:cNvPr id="5" name="Text 2"/>
          <p:cNvSpPr/>
          <p:nvPr/>
        </p:nvSpPr>
        <p:spPr>
          <a:xfrm>
            <a:off x="548640" y="2468880"/>
            <a:ext cx="105156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So You Can Scale the AI.</a:t>
            </a:r>
            <a:endParaRPr lang="en-US" sz="3400" dirty="0"/>
          </a:p>
        </p:txBody>
      </p:sp>
      <p:sp>
        <p:nvSpPr>
          <p:cNvPr id="6" name="Text 3"/>
          <p:cNvSpPr/>
          <p:nvPr/>
        </p:nvSpPr>
        <p:spPr>
          <a:xfrm>
            <a:off x="548640" y="3429000"/>
            <a:ext cx="9601200" cy="502920"/>
          </a:xfrm>
          <a:prstGeom prst="rect">
            <a:avLst/>
          </a:prstGeom>
          <a:noFill/>
          <a:ln/>
        </p:spPr>
        <p:txBody>
          <a:bodyPr wrap="square" lIns="0" tIns="0" rIns="0" bIns="0" rtlCol="0" anchor="ctr"/>
          <a:lstStyle/>
          <a:p>
            <a:pPr marL="0" indent="0">
              <a:buNone/>
            </a:pPr>
            <a:r>
              <a:rPr lang="en-US" sz="1500" dirty="0">
                <a:solidFill>
                  <a:srgbClr val="E5DDFB"/>
                </a:solidFill>
                <a:latin typeface="Calibri" pitchFamily="34" charset="0"/>
                <a:ea typeface="Calibri" pitchFamily="34" charset="-122"/>
                <a:cs typeface="Calibri" pitchFamily="34" charset="-120"/>
              </a:rPr>
              <a:t>A 20-minute call to map your growth to a plan, then a 30-day scale test on your own data.</a:t>
            </a:r>
            <a:endParaRPr lang="en-US" sz="1500" dirty="0"/>
          </a:p>
        </p:txBody>
      </p:sp>
      <p:sp>
        <p:nvSpPr>
          <p:cNvPr id="7" name="Shape 4"/>
          <p:cNvSpPr/>
          <p:nvPr/>
        </p:nvSpPr>
        <p:spPr>
          <a:xfrm>
            <a:off x="548640" y="4160520"/>
            <a:ext cx="3017520" cy="594360"/>
          </a:xfrm>
          <a:prstGeom prst="roundRect">
            <a:avLst>
              <a:gd name="adj" fmla="val 15385"/>
            </a:avLst>
          </a:prstGeom>
          <a:solidFill>
            <a:srgbClr val="1A1A2E"/>
          </a:solidFill>
          <a:ln/>
        </p:spPr>
      </p:sp>
      <p:sp>
        <p:nvSpPr>
          <p:cNvPr id="8" name="Text 5"/>
          <p:cNvSpPr/>
          <p:nvPr/>
        </p:nvSpPr>
        <p:spPr>
          <a:xfrm>
            <a:off x="548640" y="4160520"/>
            <a:ext cx="301752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Book the 20-min call  →</a:t>
            </a:r>
            <a:endParaRPr lang="en-US" sz="1400" dirty="0"/>
          </a:p>
        </p:txBody>
      </p:sp>
      <p:sp>
        <p:nvSpPr>
          <p:cNvPr id="9" name="Text 6"/>
          <p:cNvSpPr/>
          <p:nvPr/>
        </p:nvSpPr>
        <p:spPr>
          <a:xfrm>
            <a:off x="548640" y="6263640"/>
            <a:ext cx="9144000" cy="320040"/>
          </a:xfrm>
          <a:prstGeom prst="rect">
            <a:avLst/>
          </a:prstGeom>
          <a:noFill/>
          <a:ln/>
        </p:spPr>
        <p:txBody>
          <a:bodyPr wrap="square" lIns="0" tIns="0" rIns="0" bIns="0" rtlCol="0" anchor="ctr"/>
          <a:lstStyle/>
          <a:p>
            <a:pPr marL="0" indent="0">
              <a:buNone/>
            </a:pPr>
            <a:r>
              <a:rPr lang="en-US" sz="1200" dirty="0">
                <a:solidFill>
                  <a:srgbClr val="D9CDFA"/>
                </a:solidFill>
                <a:latin typeface="Calibri" pitchFamily="34" charset="0"/>
                <a:ea typeface="Calibri" pitchFamily="34" charset="-122"/>
                <a:cs typeface="Calibri" pitchFamily="34" charset="-120"/>
              </a:rPr>
              <a:t>AtliQ Tech   ·   data.atliq.tech   ·   partnerships@atliq.tech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436</Words>
  <Application>Microsoft Office PowerPoint</Application>
  <PresentationFormat>Widescreen</PresentationFormat>
  <Paragraphs>61</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SACHIN D</cp:lastModifiedBy>
  <cp:revision>1</cp:revision>
  <dcterms:created xsi:type="dcterms:W3CDTF">2026-09-01T07:04:17Z</dcterms:created>
  <dcterms:modified xsi:type="dcterms:W3CDTF">2026-09-01T09:21:49Z</dcterms:modified>
</cp:coreProperties>
</file>